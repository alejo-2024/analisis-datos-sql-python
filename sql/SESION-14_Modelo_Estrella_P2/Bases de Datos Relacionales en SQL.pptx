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Relationship Id="rId12" Type="http://schemas.openxmlformats.org/officeDocument/2006/relationships/image" Target="../media/image22.png"/><Relationship Id="rId13" Type="http://schemas.openxmlformats.org/officeDocument/2006/relationships/image" Target="../media/image23.png"/><Relationship Id="rId14" Type="http://schemas.openxmlformats.org/officeDocument/2006/relationships/image" Target="../media/image24.png"/><Relationship Id="rId15" Type="http://schemas.openxmlformats.org/officeDocument/2006/relationships/image" Target="../media/image25.png"/><Relationship Id="rId16" Type="http://schemas.openxmlformats.org/officeDocument/2006/relationships/image" Target="../media/image26.png"/><Relationship Id="rId17" Type="http://schemas.openxmlformats.org/officeDocument/2006/relationships/image" Target="../media/image27.png"/><Relationship Id="rId18" Type="http://schemas.openxmlformats.org/officeDocument/2006/relationships/image" Target="../media/image28.png"/><Relationship Id="rId19" Type="http://schemas.openxmlformats.org/officeDocument/2006/relationships/image" Target="../media/image2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Relationship Id="rId9" Type="http://schemas.openxmlformats.org/officeDocument/2006/relationships/image" Target="../media/image36.png"/><Relationship Id="rId10" Type="http://schemas.openxmlformats.org/officeDocument/2006/relationships/image" Target="../media/image37.png"/><Relationship Id="rId11" Type="http://schemas.openxmlformats.org/officeDocument/2006/relationships/image" Target="../media/image38.png"/><Relationship Id="rId12" Type="http://schemas.openxmlformats.org/officeDocument/2006/relationships/image" Target="../media/image39.png"/><Relationship Id="rId13" Type="http://schemas.openxmlformats.org/officeDocument/2006/relationships/image" Target="../media/image40.png"/><Relationship Id="rId14" Type="http://schemas.openxmlformats.org/officeDocument/2006/relationships/image" Target="../media/image41.png"/><Relationship Id="rId15" Type="http://schemas.openxmlformats.org/officeDocument/2006/relationships/image" Target="../media/image42.png"/><Relationship Id="rId16" Type="http://schemas.openxmlformats.org/officeDocument/2006/relationships/image" Target="../media/image43.png"/><Relationship Id="rId17" Type="http://schemas.openxmlformats.org/officeDocument/2006/relationships/image" Target="../media/image4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Relationship Id="rId7" Type="http://schemas.openxmlformats.org/officeDocument/2006/relationships/image" Target="../media/image49.png"/><Relationship Id="rId8" Type="http://schemas.openxmlformats.org/officeDocument/2006/relationships/image" Target="../media/image50.png"/><Relationship Id="rId9" Type="http://schemas.openxmlformats.org/officeDocument/2006/relationships/image" Target="../media/image5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56.png"/><Relationship Id="rId8" Type="http://schemas.openxmlformats.org/officeDocument/2006/relationships/image" Target="../media/image57.png"/><Relationship Id="rId9" Type="http://schemas.openxmlformats.org/officeDocument/2006/relationships/image" Target="../media/image58.png"/><Relationship Id="rId10" Type="http://schemas.openxmlformats.org/officeDocument/2006/relationships/image" Target="../media/image59.png"/><Relationship Id="rId11" Type="http://schemas.openxmlformats.org/officeDocument/2006/relationships/image" Target="../media/image60.png"/><Relationship Id="rId12" Type="http://schemas.openxmlformats.org/officeDocument/2006/relationships/image" Target="../media/image61.png"/><Relationship Id="rId13" Type="http://schemas.openxmlformats.org/officeDocument/2006/relationships/image" Target="../media/image62.png"/><Relationship Id="rId14" Type="http://schemas.openxmlformats.org/officeDocument/2006/relationships/image" Target="../media/image63.png"/><Relationship Id="rId15" Type="http://schemas.openxmlformats.org/officeDocument/2006/relationships/image" Target="../media/image64.png"/><Relationship Id="rId16" Type="http://schemas.openxmlformats.org/officeDocument/2006/relationships/image" Target="../media/image65.png"/><Relationship Id="rId17" Type="http://schemas.openxmlformats.org/officeDocument/2006/relationships/image" Target="../media/image6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7.png"/><Relationship Id="rId4" Type="http://schemas.openxmlformats.org/officeDocument/2006/relationships/image" Target="../media/image68.png"/><Relationship Id="rId5" Type="http://schemas.openxmlformats.org/officeDocument/2006/relationships/image" Target="../media/image69.png"/><Relationship Id="rId6" Type="http://schemas.openxmlformats.org/officeDocument/2006/relationships/image" Target="../media/image70.png"/><Relationship Id="rId7" Type="http://schemas.openxmlformats.org/officeDocument/2006/relationships/image" Target="../media/image71.png"/><Relationship Id="rId8" Type="http://schemas.openxmlformats.org/officeDocument/2006/relationships/image" Target="../media/image72.png"/><Relationship Id="rId9" Type="http://schemas.openxmlformats.org/officeDocument/2006/relationships/image" Target="../media/image7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4.png"/><Relationship Id="rId4" Type="http://schemas.openxmlformats.org/officeDocument/2006/relationships/image" Target="../media/image75.png"/><Relationship Id="rId5" Type="http://schemas.openxmlformats.org/officeDocument/2006/relationships/image" Target="../media/image76.png"/><Relationship Id="rId6" Type="http://schemas.openxmlformats.org/officeDocument/2006/relationships/image" Target="../media/image77.png"/><Relationship Id="rId7" Type="http://schemas.openxmlformats.org/officeDocument/2006/relationships/image" Target="../media/image78.png"/><Relationship Id="rId8" Type="http://schemas.openxmlformats.org/officeDocument/2006/relationships/image" Target="../media/image79.png"/><Relationship Id="rId9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0.png"/><Relationship Id="rId4" Type="http://schemas.openxmlformats.org/officeDocument/2006/relationships/image" Target="../media/image81.png"/><Relationship Id="rId5" Type="http://schemas.openxmlformats.org/officeDocument/2006/relationships/image" Target="../media/image82.png"/><Relationship Id="rId6" Type="http://schemas.openxmlformats.org/officeDocument/2006/relationships/image" Target="../media/image83.png"/><Relationship Id="rId7" Type="http://schemas.openxmlformats.org/officeDocument/2006/relationships/image" Target="../media/image84.png"/><Relationship Id="rId8" Type="http://schemas.openxmlformats.org/officeDocument/2006/relationships/image" Target="../media/image85.png"/><Relationship Id="rId9" Type="http://schemas.openxmlformats.org/officeDocument/2006/relationships/image" Target="../media/image86.png"/><Relationship Id="rId10" Type="http://schemas.openxmlformats.org/officeDocument/2006/relationships/image" Target="../media/image87.png"/><Relationship Id="rId11" Type="http://schemas.openxmlformats.org/officeDocument/2006/relationships/image" Target="../media/image88.png"/><Relationship Id="rId12" Type="http://schemas.openxmlformats.org/officeDocument/2006/relationships/image" Target="../media/image89.png"/><Relationship Id="rId13" Type="http://schemas.openxmlformats.org/officeDocument/2006/relationships/image" Target="../media/image90.png"/><Relationship Id="rId14" Type="http://schemas.openxmlformats.org/officeDocument/2006/relationships/image" Target="../media/image91.png"/><Relationship Id="rId15" Type="http://schemas.openxmlformats.org/officeDocument/2006/relationships/image" Target="../media/image92.png"/><Relationship Id="rId16" Type="http://schemas.openxmlformats.org/officeDocument/2006/relationships/image" Target="../media/image93.png"/><Relationship Id="rId17" Type="http://schemas.openxmlformats.org/officeDocument/2006/relationships/image" Target="../media/image94.png"/><Relationship Id="rId18" Type="http://schemas.openxmlformats.org/officeDocument/2006/relationships/image" Target="../media/image95.png"/><Relationship Id="rId19" Type="http://schemas.openxmlformats.org/officeDocument/2006/relationships/image" Target="../media/image96.png"/><Relationship Id="rId20" Type="http://schemas.openxmlformats.org/officeDocument/2006/relationships/image" Target="../media/image9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8.png"/><Relationship Id="rId4" Type="http://schemas.openxmlformats.org/officeDocument/2006/relationships/image" Target="../media/image99.png"/><Relationship Id="rId5" Type="http://schemas.openxmlformats.org/officeDocument/2006/relationships/image" Target="../media/image10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638675"/>
            <a:ext cx="10668000" cy="6953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5905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937694" y="571500"/>
            <a:ext cx="7492305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Plus Jakarta Sans SemiBold"/>
              </a:rPr>
              <a:t>SQL &amp; Data Architecture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571500"/>
            <a:ext cx="3175694" cy="2857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1721197"/>
            <a:ext cx="11201400" cy="12153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784"/>
              </a:lnSpc>
            </a:pPr>
            <a:r>
              <a:rPr b="1" sz="4350" i="0" u="none">
                <a:solidFill>
                  <a:srgbClr val="FFFFFF"/>
                </a:solidFill>
                <a:latin typeface="Space Grotesk"/>
              </a:rPr>
              <a:t>Bases de Datos</a:t>
            </a:r>
            <a:r>
              <a:t>
</a:t>
            </a:r>
            <a:r>
              <a:rPr b="1" sz="4350" i="0" u="none">
                <a:solidFill>
                  <a:srgbClr val="38BDF8"/>
                </a:solidFill>
                <a:latin typeface="Space Grotesk"/>
              </a:rPr>
              <a:t>Relacionales en 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088927"/>
            <a:ext cx="7620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94A3B8"/>
                </a:solidFill>
                <a:latin typeface="Plus Jakarta Sans"/>
              </a:rPr>
              <a:t>¿Qué son, cómo se diseñan y para qué nos sirven a los analistas de datos?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96475" y="5162550"/>
            <a:ext cx="1533525" cy="171450"/>
          </a:xfrm>
          <a:prstGeom prst="rect">
            <a:avLst/>
          </a:prstGeom>
          <a:noFill/>
        </p:spPr>
        <p:txBody>
          <a:bodyPr wrap="square" lIns="17145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Taller Práctico de SQL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875" y="652462"/>
            <a:ext cx="111025" cy="1238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4876800"/>
            <a:ext cx="457200" cy="4572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96475" y="5191125"/>
            <a:ext cx="171450" cy="1333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4875" y="5010150"/>
            <a:ext cx="171450" cy="190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52550" y="4895850"/>
            <a:ext cx="2040255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Space Grotesk"/>
              </a:rPr>
              <a:t>[Tu Nombre Aquí]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2550" y="5114925"/>
            <a:ext cx="19431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Analista de Datos en Formación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14750" y="571500"/>
            <a:ext cx="4762500" cy="4762500"/>
          </a:xfrm>
          <a:prstGeom prst="roundRect">
            <a:avLst>
              <a:gd name="adj" fmla="val 1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616868"/>
            <a:ext cx="1553616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6250" y="2016918"/>
            <a:ext cx="5400675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Space Grotesk"/>
              </a:rPr>
              <a:t>El Corazón de los Datos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" y="1697831"/>
            <a:ext cx="101500" cy="12382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76250" y="2426493"/>
            <a:ext cx="1358503" cy="19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6250" y="2616993"/>
            <a:ext cx="5143500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Plus Jakarta Sans"/>
              </a:rPr>
              <a:t>En el día a día, las empresas generan miles de transacciones: ventas, clientes, inventarios y pagos. Sin un sistema ordenado, esta información se vuelve inmanejable.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050" y="3517106"/>
            <a:ext cx="48387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475569"/>
                </a:solidFill>
                <a:latin typeface="Plus Jakarta Sans"/>
              </a:rPr>
              <a:t>Del caos a la estructura:</a:t>
            </a:r>
            <a:r>
              <a:rPr b="0" sz="1275" i="0" u="none">
                <a:solidFill>
                  <a:srgbClr val="475569"/>
                </a:solidFill>
                <a:latin typeface="Plus Jakarta Sans"/>
              </a:rPr>
              <a:t> Organizan la información de forma lógica y segura.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050" y="4136231"/>
            <a:ext cx="48387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475569"/>
                </a:solidFill>
                <a:latin typeface="Plus Jakarta Sans"/>
              </a:rPr>
              <a:t>Punto de partida del Analista:</a:t>
            </a:r>
            <a:r>
              <a:rPr b="0" sz="1275" i="0" u="none">
                <a:solidFill>
                  <a:srgbClr val="475569"/>
                </a:solidFill>
                <a:latin typeface="Plus Jakarta Sans"/>
              </a:rPr>
              <a:t> Antes de crear dashboards, debemos extraer datos limpios desde la base de datos.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050" y="4755356"/>
            <a:ext cx="48387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475569"/>
                </a:solidFill>
                <a:latin typeface="Plus Jakarta Sans"/>
              </a:rPr>
              <a:t>Toma de decisiones:</a:t>
            </a:r>
            <a:r>
              <a:rPr b="0" sz="1275" i="0" u="none">
                <a:solidFill>
                  <a:srgbClr val="475569"/>
                </a:solidFill>
                <a:latin typeface="Plus Jakarta Sans"/>
              </a:rPr>
              <a:t> Permiten responder preguntas estratégicas de negocio en segundos.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3536156"/>
            <a:ext cx="13335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4155281"/>
            <a:ext cx="13335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4774406"/>
            <a:ext cx="13335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691062"/>
            <a:ext cx="11049000" cy="962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300287"/>
            <a:ext cx="3530500" cy="20097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0600" y="2300287"/>
            <a:ext cx="3530649" cy="20097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9850" y="2300287"/>
            <a:ext cx="3530500" cy="20097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90887" y="4929187"/>
            <a:ext cx="1504950" cy="4857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57812" y="4929187"/>
            <a:ext cx="1352550" cy="4857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72337" y="4929187"/>
            <a:ext cx="1628775" cy="4857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" y="1852612"/>
            <a:ext cx="110490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Es un sistema de almacenamiento que organiza la información en </a:t>
            </a:r>
            <a:r>
              <a:rPr b="1" sz="1350" i="0" u="none">
                <a:solidFill>
                  <a:srgbClr val="475569"/>
                </a:solidFill>
                <a:latin typeface="Plus Jakarta Sans"/>
              </a:rPr>
              <a:t>tablas</a:t>
            </a:r>
            <a:r>
              <a:rPr b="0" sz="1350" i="0" u="none">
                <a:solidFill>
                  <a:srgbClr val="475569"/>
                </a:solidFill>
                <a:latin typeface="Plus Jakarta Sans"/>
              </a:rPr>
              <a:t> (filas y columnas) conectadas entre sí mediante </a:t>
            </a:r>
            <a:r>
              <a:rPr b="1" sz="1350" i="0" u="none">
                <a:solidFill>
                  <a:srgbClr val="475569"/>
                </a:solidFill>
                <a:latin typeface="Plus Jakarta Sans"/>
              </a:rPr>
              <a:t>relaciones lógicas</a:t>
            </a:r>
            <a:r>
              <a:rPr b="0" sz="1350" i="0" u="none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86337" y="5067300"/>
            <a:ext cx="180975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00862" y="5067300"/>
            <a:ext cx="180975" cy="2095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9625" y="2538412"/>
            <a:ext cx="457200" cy="457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09625" y="3109912"/>
            <a:ext cx="3206963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Tablas Organizadas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625" y="3471862"/>
            <a:ext cx="30542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64748B"/>
                </a:solidFill>
                <a:latin typeface="Plus Jakarta Sans"/>
              </a:rPr>
              <a:t>La información no se guarda en texto plano, sino en estructuras claras formadas por filas y columnas.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68725" y="2538412"/>
            <a:ext cx="457200" cy="457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68725" y="3109912"/>
            <a:ext cx="3207119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Relaciones Clave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8725" y="3471862"/>
            <a:ext cx="3054399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64748B"/>
                </a:solidFill>
                <a:latin typeface="Plus Jakarta Sans"/>
              </a:rPr>
              <a:t>Las tablas se conectan mediante identificadores únicos para evitar duplicar información sin necesidad.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27975" y="2538412"/>
            <a:ext cx="457200" cy="4572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327975" y="3109912"/>
            <a:ext cx="3206963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Integridad de Datos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7975" y="3471862"/>
            <a:ext cx="30542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64748B"/>
                </a:solidFill>
                <a:latin typeface="Plus Jakarta Sans"/>
              </a:rPr>
              <a:t>Mantiene los datos consistentes y confiables en todo momento mediante reglas estructuradas.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538537" y="5086350"/>
            <a:ext cx="219075" cy="1714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05462" y="5086350"/>
            <a:ext cx="190500" cy="1714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19987" y="5086350"/>
            <a:ext cx="152400" cy="1714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33450" y="2662237"/>
            <a:ext cx="209550" cy="2095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678263" y="2662237"/>
            <a:ext cx="238125" cy="2095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51800" y="2662237"/>
            <a:ext cx="209550" cy="2095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Space Grotesk"/>
              </a:rPr>
              <a:t>¿Qué es una BBDD Relacional?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1500" y="885825"/>
            <a:ext cx="6201070" cy="19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09750"/>
            <a:ext cx="3555950" cy="18478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950" y="1809750"/>
            <a:ext cx="3555950" cy="18478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400" y="1809750"/>
            <a:ext cx="3556099" cy="18478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848100"/>
            <a:ext cx="3555950" cy="18478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7950" y="3848100"/>
            <a:ext cx="7302549" cy="18478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625" y="2047875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9625" y="2619375"/>
            <a:ext cx="323368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1. Tabla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2981325"/>
            <a:ext cx="30797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64748B"/>
                </a:solidFill>
                <a:latin typeface="Plus Jakarta Sans"/>
              </a:rPr>
              <a:t>Contenedor de un tema específico. Ej: Tabla de </a:t>
            </a:r>
            <a:r>
              <a:rPr b="0" sz="1125" i="0" u="none">
                <a:solidFill>
                  <a:srgbClr val="64748B"/>
                </a:solidFill>
                <a:latin typeface="Plus Jakarta Sans"/>
              </a:rPr>
              <a:t>Clientes</a:t>
            </a:r>
            <a:r>
              <a:rPr b="0" sz="1125" i="0" u="none">
                <a:solidFill>
                  <a:srgbClr val="64748B"/>
                </a:solidFill>
                <a:latin typeface="Plus Jakarta Sans"/>
              </a:rPr>
              <a:t>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56075" y="2047875"/>
            <a:ext cx="457200" cy="457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56075" y="2619375"/>
            <a:ext cx="323368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2. Fila / Registro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6075" y="2981325"/>
            <a:ext cx="30797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64748B"/>
                </a:solidFill>
                <a:latin typeface="Plus Jakarta Sans"/>
              </a:rPr>
              <a:t>Un elemento individual dentro de la tabla. Ej: El cliente </a:t>
            </a:r>
            <a:r>
              <a:rPr b="0" sz="1125" i="1" u="none">
                <a:solidFill>
                  <a:srgbClr val="64748B"/>
                </a:solidFill>
                <a:latin typeface="Plus Jakarta Sans"/>
              </a:rPr>
              <a:t>Juan Pérez</a:t>
            </a:r>
            <a:r>
              <a:rPr b="0" sz="1125" i="0" u="none">
                <a:solidFill>
                  <a:srgbClr val="64748B"/>
                </a:solidFill>
                <a:latin typeface="Plus Jakarta Sans"/>
              </a:rPr>
              <a:t>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02525" y="2047875"/>
            <a:ext cx="457200" cy="457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02525" y="2619375"/>
            <a:ext cx="3233841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3. Columna / Campo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525" y="2981325"/>
            <a:ext cx="3079849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64748B"/>
                </a:solidFill>
                <a:latin typeface="Plus Jakarta Sans"/>
              </a:rPr>
              <a:t>Atributo que describe al registro. Ej: </a:t>
            </a:r>
            <a:r>
              <a:rPr b="0" sz="1125" i="0" u="none">
                <a:solidFill>
                  <a:srgbClr val="64748B"/>
                </a:solidFill>
                <a:latin typeface="Plus Jakarta Sans"/>
              </a:rPr>
              <a:t>Email</a:t>
            </a:r>
            <a:r>
              <a:rPr b="0" sz="1125" i="0" u="none">
                <a:solidFill>
                  <a:srgbClr val="64748B"/>
                </a:solidFill>
                <a:latin typeface="Plus Jakarta Sans"/>
              </a:rPr>
              <a:t> o </a:t>
            </a:r>
            <a:r>
              <a:rPr b="0" sz="1125" i="0" u="none">
                <a:solidFill>
                  <a:srgbClr val="64748B"/>
                </a:solidFill>
                <a:latin typeface="Plus Jakarta Sans"/>
              </a:rPr>
              <a:t>Ciudad</a:t>
            </a:r>
            <a:r>
              <a:rPr b="0" sz="1125" i="0" u="none">
                <a:solidFill>
                  <a:srgbClr val="64748B"/>
                </a:solidFill>
                <a:latin typeface="Plus Jakarta Sans"/>
              </a:rPr>
              <a:t>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9625" y="4105275"/>
            <a:ext cx="457200" cy="457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09625" y="4676775"/>
            <a:ext cx="323368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4. Primary Key (PK)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625" y="5038725"/>
            <a:ext cx="30797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64748B"/>
                </a:solidFill>
                <a:latin typeface="Plus Jakarta Sans"/>
              </a:rPr>
              <a:t>Código único que identifica a cada fila sin repetir. Ej: </a:t>
            </a:r>
            <a:r>
              <a:rPr b="0" sz="1125" i="0" u="none">
                <a:solidFill>
                  <a:srgbClr val="64748B"/>
                </a:solidFill>
                <a:latin typeface="Plus Jakarta Sans"/>
              </a:rPr>
              <a:t>cliente_id = 101</a:t>
            </a:r>
            <a:r>
              <a:rPr b="0" sz="1125" i="0" u="none">
                <a:solidFill>
                  <a:srgbClr val="64748B"/>
                </a:solidFill>
                <a:latin typeface="Plus Jakarta Sans"/>
              </a:rPr>
              <a:t>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56075" y="4105275"/>
            <a:ext cx="457200" cy="4572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556075" y="4676775"/>
            <a:ext cx="7167614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5. Foreign Key (FK)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6075" y="5038725"/>
            <a:ext cx="6826299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64748B"/>
                </a:solidFill>
                <a:latin typeface="Plus Jakarta Sans"/>
              </a:rPr>
              <a:t>Clave que apunta a la Primary Key de otra tabla para crear el puente de conexión entre ambas.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3450" y="2171700"/>
            <a:ext cx="209550" cy="2095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94187" y="2171700"/>
            <a:ext cx="180975" cy="2095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26350" y="2171700"/>
            <a:ext cx="209550" cy="2095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3450" y="4229100"/>
            <a:ext cx="209550" cy="2095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651325" y="4229100"/>
            <a:ext cx="266700" cy="2095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Space Grotesk"/>
              </a:rPr>
              <a:t>Elementos Principales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1500" y="885825"/>
            <a:ext cx="7470133" cy="19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399532"/>
            <a:ext cx="1882080" cy="137799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3155" y="3399532"/>
            <a:ext cx="1882080" cy="137799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4810" y="3399532"/>
            <a:ext cx="1882080" cy="137799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6466" y="3399532"/>
            <a:ext cx="1882080" cy="1377999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38121" y="3479899"/>
            <a:ext cx="1882080" cy="12171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2728019"/>
            <a:ext cx="11049000" cy="242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475569"/>
                </a:solidFill>
                <a:latin typeface="Plus Jakarta Sans"/>
              </a:rPr>
              <a:t>Diseñar una base de datos de manera correcta evita redundancias y garantiza consultas eficientes: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96455" y="3993207"/>
            <a:ext cx="123825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88110" y="3993207"/>
            <a:ext cx="123825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79766" y="3993207"/>
            <a:ext cx="123825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71421" y="3993207"/>
            <a:ext cx="123825" cy="190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1525" y="3628132"/>
            <a:ext cx="148203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2563EB"/>
                </a:solidFill>
                <a:latin typeface="Plus Jakarta Sans ExtraBold"/>
              </a:rPr>
              <a:t>PASO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4474" y="3828157"/>
            <a:ext cx="1556131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75" i="0" u="none">
                <a:solidFill>
                  <a:srgbClr val="0F172A"/>
                </a:solidFill>
                <a:latin typeface="Space Grotesk"/>
              </a:rPr>
              <a:t>Necesidades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1525" y="4094857"/>
            <a:ext cx="1482030" cy="482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67"/>
              </a:lnSpc>
            </a:pPr>
            <a:r>
              <a:rPr b="0" sz="975" i="0" u="none">
                <a:solidFill>
                  <a:srgbClr val="64748B"/>
                </a:solidFill>
                <a:latin typeface="Plus Jakarta Sans"/>
              </a:rPr>
              <a:t>Entender qué preguntas del negocio debemos responder.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180" y="3628132"/>
            <a:ext cx="148203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2563EB"/>
                </a:solidFill>
                <a:latin typeface="Plus Jakarta Sans ExtraBold"/>
              </a:rPr>
              <a:t>PASO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26129" y="3828157"/>
            <a:ext cx="1556131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75" i="0" u="none">
                <a:solidFill>
                  <a:srgbClr val="0F172A"/>
                </a:solidFill>
                <a:latin typeface="Space Grotesk"/>
              </a:rPr>
              <a:t>Entidades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180" y="4094857"/>
            <a:ext cx="1482030" cy="482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67"/>
              </a:lnSpc>
            </a:pPr>
            <a:r>
              <a:rPr b="0" sz="975" i="0" u="none">
                <a:solidFill>
                  <a:srgbClr val="64748B"/>
                </a:solidFill>
                <a:latin typeface="Plus Jakarta Sans"/>
              </a:rPr>
              <a:t>Definir los sujetos principales (Clientes, Productos, Ventas).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54835" y="3628132"/>
            <a:ext cx="148203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2563EB"/>
                </a:solidFill>
                <a:latin typeface="Plus Jakarta Sans ExtraBold"/>
              </a:rPr>
              <a:t>PASO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17785" y="3828157"/>
            <a:ext cx="1556131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75" i="0" u="none">
                <a:solidFill>
                  <a:srgbClr val="0F172A"/>
                </a:solidFill>
                <a:latin typeface="Space Grotesk"/>
              </a:rPr>
              <a:t>Campos &amp; PK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54835" y="4094857"/>
            <a:ext cx="1482030" cy="482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67"/>
              </a:lnSpc>
            </a:pPr>
            <a:r>
              <a:rPr b="0" sz="975" i="0" u="none">
                <a:solidFill>
                  <a:srgbClr val="64748B"/>
                </a:solidFill>
                <a:latin typeface="Plus Jakarta Sans"/>
              </a:rPr>
              <a:t>Asignar columnas e identificar la clave primaria de cada tabla.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46491" y="3628132"/>
            <a:ext cx="148203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2563EB"/>
                </a:solidFill>
                <a:latin typeface="Plus Jakarta Sans ExtraBold"/>
              </a:rPr>
              <a:t>PASO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09440" y="3828157"/>
            <a:ext cx="1556131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75" i="0" u="none">
                <a:solidFill>
                  <a:srgbClr val="0F172A"/>
                </a:solidFill>
                <a:latin typeface="Space Grotesk"/>
              </a:rPr>
              <a:t>Relaciones FK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46491" y="4094857"/>
            <a:ext cx="1482030" cy="482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67"/>
              </a:lnSpc>
            </a:pPr>
            <a:r>
              <a:rPr b="0" sz="975" i="0" u="none">
                <a:solidFill>
                  <a:srgbClr val="64748B"/>
                </a:solidFill>
                <a:latin typeface="Plus Jakarta Sans"/>
              </a:rPr>
              <a:t>Conectar las tablas vinculando las claves foráneas.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38146" y="3708499"/>
            <a:ext cx="148203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2563EB"/>
                </a:solidFill>
                <a:latin typeface="Plus Jakarta Sans ExtraBold"/>
              </a:rPr>
              <a:t>PASO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01096" y="3908524"/>
            <a:ext cx="1556131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75" i="0" u="none">
                <a:solidFill>
                  <a:srgbClr val="0F172A"/>
                </a:solidFill>
                <a:latin typeface="Space Grotesk"/>
              </a:rPr>
              <a:t>Revisión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38146" y="4175224"/>
            <a:ext cx="1482030" cy="3217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67"/>
              </a:lnSpc>
            </a:pPr>
            <a:r>
              <a:rPr b="0" sz="975" i="0" u="none">
                <a:solidFill>
                  <a:srgbClr val="64748B"/>
                </a:solidFill>
                <a:latin typeface="Plus Jakarta Sans"/>
              </a:rPr>
              <a:t>Validar la estructura y eliminar duplicaciones.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Space Grotesk"/>
              </a:rPr>
              <a:t>Diseño de una Base de Datos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1500" y="885825"/>
            <a:ext cx="6394694" cy="19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819650"/>
            <a:ext cx="11049000" cy="476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209800"/>
            <a:ext cx="3555950" cy="24193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7950" y="2209800"/>
            <a:ext cx="3555950" cy="24193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4400" y="2209800"/>
            <a:ext cx="3555950" cy="24193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2219325"/>
            <a:ext cx="3536900" cy="4667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27475" y="2219325"/>
            <a:ext cx="3536900" cy="4667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73925" y="2219325"/>
            <a:ext cx="3536900" cy="4667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17587" y="4962525"/>
            <a:ext cx="3057525" cy="190500"/>
          </a:xfrm>
          <a:prstGeom prst="rect">
            <a:avLst/>
          </a:prstGeom>
          <a:noFill/>
        </p:spPr>
        <p:txBody>
          <a:bodyPr wrap="square" lIns="17145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 SemiBold"/>
              </a:rPr>
              <a:t>CLIENTES.</a:t>
            </a:r>
            <a:r>
              <a:rPr b="0" sz="1050" i="0" u="none">
                <a:solidFill>
                  <a:srgbClr val="2563EB"/>
                </a:solidFill>
                <a:latin typeface="Plus Jakarta Sans SemiBold"/>
              </a:rPr>
              <a:t>cliente_id</a:t>
            </a:r>
            <a:r>
              <a:rPr b="0" sz="1050" i="0" u="none">
                <a:solidFill>
                  <a:srgbClr val="475569"/>
                </a:solidFill>
                <a:latin typeface="Plus Jakarta Sans SemiBold"/>
              </a:rPr>
              <a:t> = VENTAS.</a:t>
            </a:r>
            <a:r>
              <a:rPr b="0" sz="1050" i="0" u="none">
                <a:solidFill>
                  <a:srgbClr val="2563EB"/>
                </a:solidFill>
                <a:latin typeface="Plus Jakarta Sans SemiBold"/>
              </a:rPr>
              <a:t>cliente_id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81538" y="4972050"/>
            <a:ext cx="476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CBD5E1"/>
                </a:solidFill>
                <a:latin typeface="Plus Jakarta Sans SemiBold"/>
              </a:rPr>
              <a:t>|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5589" y="4962525"/>
            <a:ext cx="3438525" cy="190500"/>
          </a:xfrm>
          <a:prstGeom prst="rect">
            <a:avLst/>
          </a:prstGeom>
          <a:noFill/>
        </p:spPr>
        <p:txBody>
          <a:bodyPr wrap="square" lIns="17145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 SemiBold"/>
              </a:rPr>
              <a:t>PRODUCTOS.</a:t>
            </a:r>
            <a:r>
              <a:rPr b="0" sz="1050" i="0" u="none">
                <a:solidFill>
                  <a:srgbClr val="2563EB"/>
                </a:solidFill>
                <a:latin typeface="Plus Jakarta Sans SemiBold"/>
              </a:rPr>
              <a:t>producto_id</a:t>
            </a:r>
            <a:r>
              <a:rPr b="0" sz="1050" i="0" u="none">
                <a:solidFill>
                  <a:srgbClr val="475569"/>
                </a:solidFill>
                <a:latin typeface="Plus Jakarta Sans SemiBold"/>
              </a:rPr>
              <a:t> = VENTAS.</a:t>
            </a:r>
            <a:r>
              <a:rPr b="0" sz="1050" i="0" u="none">
                <a:solidFill>
                  <a:srgbClr val="2563EB"/>
                </a:solidFill>
                <a:latin typeface="Plus Jakarta Sans SemiBold"/>
              </a:rPr>
              <a:t>producto_id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17587" y="4991100"/>
            <a:ext cx="171450" cy="1333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35589" y="4991100"/>
            <a:ext cx="171450" cy="1333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3425" y="2395537"/>
            <a:ext cx="190500" cy="152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33425" y="2876550"/>
            <a:ext cx="32321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Plus Jakarta Sans Medium"/>
              </a:rPr>
              <a:t>cliente_id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1025" y="3133725"/>
            <a:ext cx="35369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3425" y="3219450"/>
            <a:ext cx="32321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Plus Jakarta Sans Medium"/>
              </a:rPr>
              <a:t>nombre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</a:t>
            </a:r>
            <a:r>
              <a:rPr b="0" sz="1050" i="0" u="none">
                <a:solidFill>
                  <a:srgbClr val="94A3B8"/>
                </a:solidFill>
                <a:latin typeface="Plus Jakarta Sans"/>
              </a:rPr>
              <a:t>text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1025" y="3476625"/>
            <a:ext cx="35369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3425" y="3562350"/>
            <a:ext cx="3232100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Plus Jakarta Sans Medium"/>
              </a:rPr>
              <a:t>ciudad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</a:t>
            </a:r>
            <a:r>
              <a:rPr b="0" sz="1050" i="0" u="none">
                <a:solidFill>
                  <a:srgbClr val="94A3B8"/>
                </a:solidFill>
                <a:latin typeface="Plus Jakarta Sans"/>
              </a:rPr>
              <a:t>text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79875" y="2395537"/>
            <a:ext cx="171450" cy="152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479875" y="2876550"/>
            <a:ext cx="32321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Plus Jakarta Sans Medium"/>
              </a:rPr>
              <a:t>venta_id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27475" y="3133725"/>
            <a:ext cx="35369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79875" y="3219450"/>
            <a:ext cx="32321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Plus Jakarta Sans Medium"/>
              </a:rPr>
              <a:t>cliente_id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27475" y="3476625"/>
            <a:ext cx="35369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79875" y="3562350"/>
            <a:ext cx="32321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Plus Jakarta Sans Medium"/>
              </a:rPr>
              <a:t>producto_id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27475" y="3819525"/>
            <a:ext cx="35369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79875" y="3905250"/>
            <a:ext cx="32321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Plus Jakarta Sans Medium"/>
              </a:rPr>
              <a:t>fecha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</a:t>
            </a:r>
            <a:r>
              <a:rPr b="0" sz="1050" i="0" u="none">
                <a:solidFill>
                  <a:srgbClr val="94A3B8"/>
                </a:solidFill>
                <a:latin typeface="Plus Jakarta Sans"/>
              </a:rPr>
              <a:t>date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27475" y="4162425"/>
            <a:ext cx="35369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79875" y="4248150"/>
            <a:ext cx="3232100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Plus Jakarta Sans Medium"/>
              </a:rPr>
              <a:t>cantidad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</a:t>
            </a:r>
            <a:r>
              <a:rPr b="0" sz="1050" i="0" u="none">
                <a:solidFill>
                  <a:srgbClr val="94A3B8"/>
                </a:solidFill>
                <a:latin typeface="Plus Jakarta Sans"/>
              </a:rPr>
              <a:t>int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26325" y="2395537"/>
            <a:ext cx="133350" cy="1524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226325" y="2876550"/>
            <a:ext cx="32321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Plus Jakarta Sans Medium"/>
              </a:rPr>
              <a:t>producto_id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73925" y="3133725"/>
            <a:ext cx="35369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6325" y="3219450"/>
            <a:ext cx="32321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Plus Jakarta Sans Medium"/>
              </a:rPr>
              <a:t>producto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</a:t>
            </a:r>
            <a:r>
              <a:rPr b="0" sz="1050" i="0" u="none">
                <a:solidFill>
                  <a:srgbClr val="94A3B8"/>
                </a:solidFill>
                <a:latin typeface="Plus Jakarta Sans"/>
              </a:rPr>
              <a:t>text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73925" y="3476625"/>
            <a:ext cx="35369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6325" y="3562350"/>
            <a:ext cx="3232100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Plus Jakarta Sans Medium"/>
              </a:rPr>
              <a:t>precio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</a:t>
            </a:r>
            <a:r>
              <a:rPr b="0" sz="1050" i="0" u="none">
                <a:solidFill>
                  <a:srgbClr val="94A3B8"/>
                </a:solidFill>
                <a:latin typeface="Plus Jakarta Sans"/>
              </a:rPr>
              <a:t>decimal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717875" y="2886075"/>
            <a:ext cx="247650" cy="161925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64325" y="2886075"/>
            <a:ext cx="247650" cy="161925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73850" y="3228975"/>
            <a:ext cx="238125" cy="161925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73850" y="3571875"/>
            <a:ext cx="238125" cy="161925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210776" y="2886075"/>
            <a:ext cx="247650" cy="161925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Space Grotesk"/>
              </a:rPr>
              <a:t>Ejemplo Práctico: Modelo Ventas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71500" y="885825"/>
            <a:ext cx="5820517" cy="19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28775"/>
            <a:ext cx="11049000" cy="1181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962275"/>
            <a:ext cx="11049000" cy="1181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295775"/>
            <a:ext cx="11049000" cy="15811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2390775"/>
            <a:ext cx="106680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3724275"/>
            <a:ext cx="10668000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5457825"/>
            <a:ext cx="10668000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2000" y="1781175"/>
            <a:ext cx="10668000" cy="161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Plus Jakarta Sans SemiBold"/>
              </a:rPr>
              <a:t>1. Consulta Básica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2000" y="1990725"/>
            <a:ext cx="10668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000" y="3114675"/>
            <a:ext cx="10668000" cy="161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Plus Jakarta Sans SemiBold"/>
              </a:rPr>
              <a:t>2. Selección de Columnas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2000" y="3324225"/>
            <a:ext cx="10668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2000" y="4448175"/>
            <a:ext cx="10668000" cy="161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Plus Jakarta Sans SemiBold"/>
              </a:rPr>
              <a:t>3. Uniendo Tablas (INNER JOIN)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2000" y="4657725"/>
            <a:ext cx="10668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96650" y="1800225"/>
            <a:ext cx="133350" cy="1143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96650" y="3133725"/>
            <a:ext cx="133350" cy="1143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96650" y="4467225"/>
            <a:ext cx="133350" cy="1143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Space Grotesk"/>
              </a:rPr>
              <a:t>SQL: El Idioma de los Datos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885825"/>
            <a:ext cx="6766169" cy="19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86012"/>
            <a:ext cx="5410200" cy="27336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00" y="2386012"/>
            <a:ext cx="5410200" cy="27336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25" y="2624137"/>
            <a:ext cx="381000" cy="381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43025" y="2681287"/>
            <a:ext cx="2162301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Space Grotesk"/>
              </a:rPr>
              <a:t>Gestión y Estructura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525" y="3157537"/>
            <a:ext cx="45910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475569"/>
                </a:solidFill>
                <a:latin typeface="Plus Jakarta Sans"/>
              </a:rPr>
              <a:t>Almacenamiento Ordenado:</a:t>
            </a:r>
            <a:r>
              <a:rPr b="0" sz="1275" i="0" u="none">
                <a:solidFill>
                  <a:srgbClr val="475569"/>
                </a:solidFill>
                <a:latin typeface="Plus Jakarta Sans"/>
              </a:rPr>
              <a:t> Evita información dispersa en múltiples hojas de cálculo.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525" y="3776662"/>
            <a:ext cx="45910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475569"/>
                </a:solidFill>
                <a:latin typeface="Plus Jakarta Sans"/>
              </a:rPr>
              <a:t>Cruce de Áreas:</a:t>
            </a:r>
            <a:r>
              <a:rPr b="0" sz="1275" i="0" u="none">
                <a:solidFill>
                  <a:srgbClr val="475569"/>
                </a:solidFill>
                <a:latin typeface="Plus Jakarta Sans"/>
              </a:rPr>
              <a:t> Permite conectar datos de Ventas, Finanzas y Marketing en un solo lugar.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525" y="4395787"/>
            <a:ext cx="45910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475569"/>
                </a:solidFill>
                <a:latin typeface="Plus Jakarta Sans"/>
              </a:rPr>
              <a:t>Escalabilidad:</a:t>
            </a:r>
            <a:r>
              <a:rPr b="0" sz="1275" i="0" u="none">
                <a:solidFill>
                  <a:srgbClr val="475569"/>
                </a:solidFill>
                <a:latin typeface="Plus Jakarta Sans"/>
              </a:rPr>
              <a:t> Capacidad de procesar millones de registros sin perder velocidad.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6525" y="2624137"/>
            <a:ext cx="381000" cy="381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981825" y="2681287"/>
            <a:ext cx="187664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Space Grotesk"/>
              </a:rPr>
              <a:t>Análisis e Insights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91325" y="3157537"/>
            <a:ext cx="45910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475569"/>
                </a:solidFill>
                <a:latin typeface="Plus Jakarta Sans"/>
              </a:rPr>
              <a:t>Consultas Rápidas:</a:t>
            </a:r>
            <a:r>
              <a:rPr b="0" sz="1275" i="0" u="none">
                <a:solidFill>
                  <a:srgbClr val="475569"/>
                </a:solidFill>
                <a:latin typeface="Plus Jakarta Sans"/>
              </a:rPr>
              <a:t> Responder preguntas operativas e históricas en tiempo real.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91325" y="3776662"/>
            <a:ext cx="45910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475569"/>
                </a:solidFill>
                <a:latin typeface="Plus Jakarta Sans"/>
              </a:rPr>
              <a:t>Generación de Reportes:</a:t>
            </a:r>
            <a:r>
              <a:rPr b="0" sz="1275" i="0" u="none">
                <a:solidFill>
                  <a:srgbClr val="475569"/>
                </a:solidFill>
                <a:latin typeface="Plus Jakarta Sans"/>
              </a:rPr>
              <a:t> Alimentar tableros en Power BI, Tableau o scripts de Python.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1325" y="4395787"/>
            <a:ext cx="45910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475569"/>
                </a:solidFill>
                <a:latin typeface="Plus Jakarta Sans"/>
              </a:rPr>
              <a:t>Soporte a Decisiones:</a:t>
            </a:r>
            <a:r>
              <a:rPr b="0" sz="1275" i="0" u="none">
                <a:solidFill>
                  <a:srgbClr val="475569"/>
                </a:solidFill>
                <a:latin typeface="Plus Jakarta Sans"/>
              </a:rPr>
              <a:t> Identificar patrones de compra y comportamiento de clientes.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00" y="2719387"/>
            <a:ext cx="171450" cy="1905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1775" y="2719387"/>
            <a:ext cx="190500" cy="1905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Space Grotesk"/>
              </a:rPr>
              <a:t>¿Para Qué nos Sirven a los Analistas?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" y="885825"/>
            <a:ext cx="5164035" cy="19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7725" y="3176587"/>
            <a:ext cx="13335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7725" y="3795712"/>
            <a:ext cx="133350" cy="152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7725" y="4414837"/>
            <a:ext cx="133350" cy="1524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86525" y="3176587"/>
            <a:ext cx="133350" cy="1524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86525" y="3795712"/>
            <a:ext cx="133350" cy="1524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86525" y="4414837"/>
            <a:ext cx="13335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22289"/>
            <a:ext cx="3568600" cy="154483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1550" y="2122289"/>
            <a:ext cx="3568749" cy="154483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1750" y="2122289"/>
            <a:ext cx="3568600" cy="154483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838575"/>
            <a:ext cx="3568600" cy="154483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1550" y="3838575"/>
            <a:ext cx="3568749" cy="154483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51750" y="3838575"/>
            <a:ext cx="3568600" cy="154483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2475" y="2303264"/>
            <a:ext cx="361950" cy="3619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2475" y="2779514"/>
            <a:ext cx="3366983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Organización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2475" y="3112889"/>
            <a:ext cx="3206650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Estructura limpia e intuitiva basada en entidades y relaciones claras.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92525" y="2303264"/>
            <a:ext cx="361950" cy="3619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492525" y="2779514"/>
            <a:ext cx="3367139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Integridad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2525" y="3112889"/>
            <a:ext cx="3206799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Reglas de validación que aseguran que los datos no se corrompan ni dupliquen.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32725" y="2303264"/>
            <a:ext cx="361950" cy="3619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232725" y="2779514"/>
            <a:ext cx="3366983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Consultas Ágiles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2725" y="3112889"/>
            <a:ext cx="3206650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Capacidad de extraer y combinar información compleja mediante SQL rápidamente.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2475" y="4019550"/>
            <a:ext cx="361950" cy="3619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52475" y="4495800"/>
            <a:ext cx="3366983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Escalabilidad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2475" y="4829175"/>
            <a:ext cx="3206650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Soporta el crecimiento exponencial de información de la empresa.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92525" y="4019550"/>
            <a:ext cx="361950" cy="3619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492525" y="4495800"/>
            <a:ext cx="3367139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Seguridad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2525" y="4829175"/>
            <a:ext cx="3206799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Control de accesos y permisos según los roles del equipo.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32725" y="4019550"/>
            <a:ext cx="361950" cy="3619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232725" y="4495800"/>
            <a:ext cx="3366983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Calidad de Análisis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32725" y="4829175"/>
            <a:ext cx="3206650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Proporciona la base sólida necesaria para cualquier proyecto de analítica.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8200" y="2398514"/>
            <a:ext cx="190500" cy="1714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97300" y="2398514"/>
            <a:ext cx="152400" cy="17145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37500" y="2398514"/>
            <a:ext cx="152400" cy="1714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57250" y="4114800"/>
            <a:ext cx="152400" cy="17145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597300" y="4114800"/>
            <a:ext cx="152400" cy="17145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27975" y="4114800"/>
            <a:ext cx="171450" cy="17145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Space Grotesk"/>
              </a:rPr>
              <a:t>Ventajas del Modelo Relacional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1500" y="885825"/>
            <a:ext cx="6080674" cy="19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20540"/>
            <a:ext cx="11049000" cy="26646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9650" y="2811065"/>
            <a:ext cx="10220325" cy="1340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1" u="none">
                <a:solidFill>
                  <a:srgbClr val="1E293B"/>
                </a:solidFill>
                <a:latin typeface="Plus Jakarta Sans"/>
              </a:rPr>
              <a:t> "Entender las bases de datos relacionales no se trata únicamente de memorizar comandos SQL; se trata de aprender a ver cómo se conecta la información en el mundo real. Como analistas de datos, dominar esta estructura nos da la capacidad de transformar tablas sueltas en historias claras y decisiones que aportan verdadero valor a una organización." 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650" y="4346971"/>
            <a:ext cx="342900" cy="342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850" y="4442221"/>
            <a:ext cx="190500" cy="152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66850" y="4342209"/>
            <a:ext cx="23526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Aprendizaje del Bootcamp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6850" y="4542234"/>
            <a:ext cx="23526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Análisis de Datos • Taller Práctico de 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Space Grotesk"/>
              </a:rPr>
              <a:t>Reflexión Final del Taller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885825"/>
            <a:ext cx="7197775" cy="19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514725"/>
            <a:ext cx="857250" cy="47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66875" y="3429000"/>
            <a:ext cx="995362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Plus Jakarta Sans"/>
              </a:rPr>
              <a:t>https://img.freepik.com/premium-photo/data-analyst-working-business-analytics-dashboard-with-charts-with-kpi-metrics-connected-database-technology-finance-operations-sales-marketing_184421-2049.jpg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6875" y="3848100"/>
            <a:ext cx="9953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www.magnific.com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Space Grotesk"/>
              </a:rPr>
              <a:t>Image Sources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885825"/>
            <a:ext cx="8570861" cy="19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